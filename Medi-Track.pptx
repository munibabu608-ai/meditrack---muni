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4630400" cy="8229600"/>
  <p:notesSz cx="8229600" cy="14630400"/>
  <p:embeddedFontLst>
    <p:embeddedFont>
      <p:font typeface="Mona Sans Semi Bold"/>
      <p:regular r:id="rId16"/>
    </p:embeddedFont>
    <p:embeddedFont>
      <p:font typeface="Mona Sans Semi Bold"/>
      <p:regular r:id="rId17"/>
    </p:embeddedFont>
    <p:embeddedFont>
      <p:font typeface="Mona Sans Semi Bold"/>
      <p:regular r:id="rId18"/>
    </p:embeddedFont>
    <p:embeddedFont>
      <p:font typeface="Mona Sans Semi Bold"/>
      <p:regular r:id="rId19"/>
    </p:embeddedFont>
    <p:embeddedFont>
      <p:font typeface="Funnel Sans"/>
      <p:regular r:id="rId20"/>
    </p:embeddedFont>
    <p:embeddedFont>
      <p:font typeface="Funnel Sans"/>
      <p:regular r:id="rId21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font" Target="fonts/font1.fntdata"/><Relationship Id="rId17" Type="http://schemas.openxmlformats.org/officeDocument/2006/relationships/font" Target="fonts/font2.fntdata"/><Relationship Id="rId18" Type="http://schemas.openxmlformats.org/officeDocument/2006/relationships/font" Target="fonts/font3.fntdata"/><Relationship Id="rId19" Type="http://schemas.openxmlformats.org/officeDocument/2006/relationships/font" Target="fonts/font4.fntdata"/><Relationship Id="rId20" Type="http://schemas.openxmlformats.org/officeDocument/2006/relationships/font" Target="fonts/font5.fntdata"/><Relationship Id="rId21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2" Type="http://schemas.openxmlformats.org/officeDocument/2006/relationships/image" Target="../media/image-1004-2.png"/><Relationship Id="rId4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2" Type="http://schemas.openxmlformats.org/officeDocument/2006/relationships/image" Target="../media/image-1005-2.png"/><Relationship Id="rId4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2" Type="http://schemas.openxmlformats.org/officeDocument/2006/relationships/image" Target="../media/image-1006-2.png"/><Relationship Id="rId4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2" Type="http://schemas.openxmlformats.org/officeDocument/2006/relationships/image" Target="../media/image-1007-2.png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2" Type="http://schemas.openxmlformats.org/officeDocument/2006/relationships/image" Target="../media/image-1008-2.png"/><Relationship Id="rId4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2" Type="http://schemas.openxmlformats.org/officeDocument/2006/relationships/image" Target="../media/image-1009-2.png"/><Relationship Id="rId4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2" Type="http://schemas.openxmlformats.org/officeDocument/2006/relationships/image" Target="../media/image-1010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616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616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616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616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616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616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616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616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616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6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svg"/><Relationship Id="rId4" Type="http://schemas.openxmlformats.org/officeDocument/2006/relationships/image" Target="../media/image-7-4.png"/><Relationship Id="rId5" Type="http://schemas.openxmlformats.org/officeDocument/2006/relationships/image" Target="../media/image-7-5.svg"/><Relationship Id="rId6" Type="http://schemas.openxmlformats.org/officeDocument/2006/relationships/image" Target="../media/image-7-6.png"/><Relationship Id="rId7" Type="http://schemas.openxmlformats.org/officeDocument/2006/relationships/image" Target="../media/image-7-7.svg"/><Relationship Id="rId8" Type="http://schemas.openxmlformats.org/officeDocument/2006/relationships/image" Target="../media/image-7-8.png"/><Relationship Id="rId9" Type="http://schemas.openxmlformats.org/officeDocument/2006/relationships/image" Target="../media/image-7-9.svg"/><Relationship Id="rId10" Type="http://schemas.openxmlformats.org/officeDocument/2006/relationships/slideLayout" Target="../slideLayouts/slideLayout8.xml"/><Relationship Id="rId11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sv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sv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svg"/><Relationship Id="rId10" Type="http://schemas.openxmlformats.org/officeDocument/2006/relationships/image" Target="../media/image-8-10.png"/><Relationship Id="rId11" Type="http://schemas.openxmlformats.org/officeDocument/2006/relationships/image" Target="../media/image-8-11.png"/><Relationship Id="rId12" Type="http://schemas.openxmlformats.org/officeDocument/2006/relationships/image" Target="../media/image-8-12.svg"/><Relationship Id="rId13" Type="http://schemas.openxmlformats.org/officeDocument/2006/relationships/slideLayout" Target="../slideLayouts/slideLayout9.xml"/><Relationship Id="rId1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0.xml"/><Relationship Id="rId5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03504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3363516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DDDDDD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Medi-Track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4412456"/>
            <a:ext cx="7556421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550"/>
              </a:lnSpc>
              <a:buNone/>
            </a:pPr>
            <a:r>
              <a:rPr lang="en-US" sz="22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Your Friendly Health Checkup Assistant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0" y="0"/>
            <a:ext cx="603504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301353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DDDDDD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Project Overview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2350294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Monitor key health metrics with personalized insights and practical wellness tips—designed for everyone.</a:t>
            </a:r>
            <a:endParaRPr lang="en-US" sz="1750" dirty="0"/>
          </a:p>
        </p:txBody>
      </p:sp>
      <p:sp>
        <p:nvSpPr>
          <p:cNvPr id="5" name="Shape 2"/>
          <p:cNvSpPr/>
          <p:nvPr/>
        </p:nvSpPr>
        <p:spPr>
          <a:xfrm>
            <a:off x="793790" y="3331250"/>
            <a:ext cx="3664744" cy="2047994"/>
          </a:xfrm>
          <a:prstGeom prst="roundRect">
            <a:avLst>
              <a:gd name="adj" fmla="val 4652"/>
            </a:avLst>
          </a:prstGeom>
          <a:solidFill>
            <a:srgbClr val="404040"/>
          </a:solidFill>
          <a:ln w="7620">
            <a:solidFill>
              <a:srgbClr val="595959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28224" y="3565684"/>
            <a:ext cx="296894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Easy-to-Read Results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028224" y="4056102"/>
            <a:ext cx="319587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Temperature, blood pressure, heart rate, and oxygen levels in one place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4685348" y="3331250"/>
            <a:ext cx="3664863" cy="2047994"/>
          </a:xfrm>
          <a:prstGeom prst="roundRect">
            <a:avLst>
              <a:gd name="adj" fmla="val 4652"/>
            </a:avLst>
          </a:prstGeom>
          <a:solidFill>
            <a:srgbClr val="404040"/>
          </a:solidFill>
          <a:ln w="7620">
            <a:solidFill>
              <a:srgbClr val="59595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919782" y="3565684"/>
            <a:ext cx="315825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Personalized Guidance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4919782" y="4056102"/>
            <a:ext cx="319599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Actionable health tips tailored to your measurements</a:t>
            </a:r>
            <a:endParaRPr lang="en-US" sz="1750" dirty="0"/>
          </a:p>
        </p:txBody>
      </p:sp>
      <p:sp>
        <p:nvSpPr>
          <p:cNvPr id="11" name="Shape 8"/>
          <p:cNvSpPr/>
          <p:nvPr/>
        </p:nvSpPr>
        <p:spPr>
          <a:xfrm>
            <a:off x="793790" y="5606058"/>
            <a:ext cx="7556421" cy="1322189"/>
          </a:xfrm>
          <a:prstGeom prst="roundRect">
            <a:avLst>
              <a:gd name="adj" fmla="val 7205"/>
            </a:avLst>
          </a:prstGeom>
          <a:solidFill>
            <a:srgbClr val="404040"/>
          </a:solidFill>
          <a:ln w="7620">
            <a:solidFill>
              <a:srgbClr val="595959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28224" y="584049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Accessible Design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1028224" y="6330910"/>
            <a:ext cx="708755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English and local language support with voice guidance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32711"/>
            <a:ext cx="870251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DDDDDD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Who Benefits From Medi-Track?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1895118"/>
            <a:ext cx="4158615" cy="415861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6280547"/>
            <a:ext cx="323469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8F8F8F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Daily Health Monitoring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93790" y="6770965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Adults tracking wellness routines</a:t>
            </a:r>
            <a:endParaRPr lang="en-US" sz="17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5893" y="1895118"/>
            <a:ext cx="4158615" cy="415861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235893" y="628054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8F8F8F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Simplified Guidance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5235893" y="6770965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Seniors needing clear, accessible tools</a:t>
            </a:r>
            <a:endParaRPr lang="en-US" sz="17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7995" y="1895118"/>
            <a:ext cx="4158615" cy="415861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677995" y="6280547"/>
            <a:ext cx="324885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8F8F8F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Condition Management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9677995" y="6770965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Those with hypertension, heart issues, or respiratory concerns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612225"/>
            <a:ext cx="785324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DDDDDD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Health Parameters We Track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774633"/>
            <a:ext cx="13042821" cy="3297317"/>
          </a:xfrm>
          <a:prstGeom prst="roundRect">
            <a:avLst>
              <a:gd name="adj" fmla="val 2889"/>
            </a:avLst>
          </a:prstGeom>
          <a:noFill/>
          <a:ln w="762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1410" y="2782253"/>
            <a:ext cx="130275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1028462" y="2925961"/>
            <a:ext cx="27993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Measurement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4289108" y="2925961"/>
            <a:ext cx="27955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Unit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545943" y="2925961"/>
            <a:ext cx="27955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Normal Range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10802779" y="2925961"/>
            <a:ext cx="27993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Status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801410" y="3432572"/>
            <a:ext cx="13027581" cy="65793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1028462" y="3576280"/>
            <a:ext cx="27993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Temperature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4289108" y="3576280"/>
            <a:ext cx="27955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°F / °C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7545943" y="3576280"/>
            <a:ext cx="27955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97–99°F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10802779" y="3576280"/>
            <a:ext cx="2799397" cy="3705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🌡️</a:t>
            </a:r>
            <a:endParaRPr lang="en-US" sz="1750" dirty="0"/>
          </a:p>
        </p:txBody>
      </p:sp>
      <p:sp>
        <p:nvSpPr>
          <p:cNvPr id="14" name="Shape 12"/>
          <p:cNvSpPr/>
          <p:nvPr/>
        </p:nvSpPr>
        <p:spPr>
          <a:xfrm>
            <a:off x="801410" y="4090511"/>
            <a:ext cx="13027581" cy="65793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1028462" y="4234220"/>
            <a:ext cx="27993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Blood Pressure</a:t>
            </a:r>
            <a:endParaRPr lang="en-US" sz="1750" dirty="0"/>
          </a:p>
        </p:txBody>
      </p:sp>
      <p:sp>
        <p:nvSpPr>
          <p:cNvPr id="16" name="Text 14"/>
          <p:cNvSpPr/>
          <p:nvPr/>
        </p:nvSpPr>
        <p:spPr>
          <a:xfrm>
            <a:off x="4289108" y="4234220"/>
            <a:ext cx="27955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mmHg</a:t>
            </a:r>
            <a:endParaRPr lang="en-US" sz="1750" dirty="0"/>
          </a:p>
        </p:txBody>
      </p:sp>
      <p:sp>
        <p:nvSpPr>
          <p:cNvPr id="17" name="Text 15"/>
          <p:cNvSpPr/>
          <p:nvPr/>
        </p:nvSpPr>
        <p:spPr>
          <a:xfrm>
            <a:off x="7545943" y="4234220"/>
            <a:ext cx="27955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90/60–120/80</a:t>
            </a:r>
            <a:endParaRPr lang="en-US" sz="1750" dirty="0"/>
          </a:p>
        </p:txBody>
      </p:sp>
      <p:sp>
        <p:nvSpPr>
          <p:cNvPr id="18" name="Text 16"/>
          <p:cNvSpPr/>
          <p:nvPr/>
        </p:nvSpPr>
        <p:spPr>
          <a:xfrm>
            <a:off x="10802779" y="4234220"/>
            <a:ext cx="2799397" cy="3705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❤️</a:t>
            </a:r>
            <a:endParaRPr lang="en-US" sz="1750" dirty="0"/>
          </a:p>
        </p:txBody>
      </p:sp>
      <p:sp>
        <p:nvSpPr>
          <p:cNvPr id="19" name="Shape 17"/>
          <p:cNvSpPr/>
          <p:nvPr/>
        </p:nvSpPr>
        <p:spPr>
          <a:xfrm>
            <a:off x="801410" y="4748451"/>
            <a:ext cx="13027581" cy="65793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1028462" y="4892159"/>
            <a:ext cx="27993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Heart Rate</a:t>
            </a:r>
            <a:endParaRPr lang="en-US" sz="1750" dirty="0"/>
          </a:p>
        </p:txBody>
      </p:sp>
      <p:sp>
        <p:nvSpPr>
          <p:cNvPr id="21" name="Text 19"/>
          <p:cNvSpPr/>
          <p:nvPr/>
        </p:nvSpPr>
        <p:spPr>
          <a:xfrm>
            <a:off x="4289108" y="4892159"/>
            <a:ext cx="27955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bpm</a:t>
            </a:r>
            <a:endParaRPr lang="en-US" sz="1750" dirty="0"/>
          </a:p>
        </p:txBody>
      </p:sp>
      <p:sp>
        <p:nvSpPr>
          <p:cNvPr id="22" name="Text 20"/>
          <p:cNvSpPr/>
          <p:nvPr/>
        </p:nvSpPr>
        <p:spPr>
          <a:xfrm>
            <a:off x="7545943" y="4892159"/>
            <a:ext cx="27955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60–100</a:t>
            </a:r>
            <a:endParaRPr lang="en-US" sz="1750" dirty="0"/>
          </a:p>
        </p:txBody>
      </p:sp>
      <p:sp>
        <p:nvSpPr>
          <p:cNvPr id="23" name="Text 21"/>
          <p:cNvSpPr/>
          <p:nvPr/>
        </p:nvSpPr>
        <p:spPr>
          <a:xfrm>
            <a:off x="10802779" y="4892159"/>
            <a:ext cx="2799397" cy="3705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💓</a:t>
            </a:r>
            <a:endParaRPr lang="en-US" sz="1750" dirty="0"/>
          </a:p>
        </p:txBody>
      </p:sp>
      <p:sp>
        <p:nvSpPr>
          <p:cNvPr id="24" name="Shape 22"/>
          <p:cNvSpPr/>
          <p:nvPr/>
        </p:nvSpPr>
        <p:spPr>
          <a:xfrm>
            <a:off x="801410" y="5406390"/>
            <a:ext cx="13027581" cy="65793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1028462" y="5550098"/>
            <a:ext cx="27993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Oxygen Level</a:t>
            </a:r>
            <a:endParaRPr lang="en-US" sz="1750" dirty="0"/>
          </a:p>
        </p:txBody>
      </p:sp>
      <p:sp>
        <p:nvSpPr>
          <p:cNvPr id="26" name="Text 24"/>
          <p:cNvSpPr/>
          <p:nvPr/>
        </p:nvSpPr>
        <p:spPr>
          <a:xfrm>
            <a:off x="4289108" y="5550098"/>
            <a:ext cx="27955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%</a:t>
            </a:r>
            <a:endParaRPr lang="en-US" sz="1750" dirty="0"/>
          </a:p>
        </p:txBody>
      </p:sp>
      <p:sp>
        <p:nvSpPr>
          <p:cNvPr id="27" name="Text 25"/>
          <p:cNvSpPr/>
          <p:nvPr/>
        </p:nvSpPr>
        <p:spPr>
          <a:xfrm>
            <a:off x="7545943" y="5550098"/>
            <a:ext cx="27955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95–100</a:t>
            </a:r>
            <a:endParaRPr lang="en-US" sz="1750" dirty="0"/>
          </a:p>
        </p:txBody>
      </p:sp>
      <p:sp>
        <p:nvSpPr>
          <p:cNvPr id="28" name="Text 26"/>
          <p:cNvSpPr/>
          <p:nvPr/>
        </p:nvSpPr>
        <p:spPr>
          <a:xfrm>
            <a:off x="10802779" y="5550098"/>
            <a:ext cx="2799397" cy="3705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🫁</a:t>
            </a:r>
            <a:endParaRPr lang="en-US" sz="1750" dirty="0"/>
          </a:p>
        </p:txBody>
      </p:sp>
      <p:sp>
        <p:nvSpPr>
          <p:cNvPr id="29" name="Text 27"/>
          <p:cNvSpPr/>
          <p:nvPr/>
        </p:nvSpPr>
        <p:spPr>
          <a:xfrm>
            <a:off x="793790" y="6327100"/>
            <a:ext cx="13042821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Color-coded results show what's healthy at a glance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5438" y="507563"/>
            <a:ext cx="5100638" cy="576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500"/>
              </a:lnSpc>
              <a:buNone/>
            </a:pPr>
            <a:r>
              <a:rPr lang="en-US" sz="3600" dirty="0">
                <a:solidFill>
                  <a:srgbClr val="DDDDDD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How Medi-Track Works</a:t>
            </a:r>
            <a:endParaRPr lang="en-US" sz="3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5438" y="1452563"/>
            <a:ext cx="553164" cy="1143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82911" y="1636871"/>
            <a:ext cx="2305169" cy="2881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dirty="0">
                <a:solidFill>
                  <a:srgbClr val="8F8F8F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Input Your Data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1382911" y="2035612"/>
            <a:ext cx="12602051" cy="2950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Enter measurements by typing or speaking</a:t>
            </a:r>
            <a:endParaRPr lang="en-US" sz="14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2020" y="2743319"/>
            <a:ext cx="553164" cy="11430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659493" y="2927628"/>
            <a:ext cx="2305169" cy="2881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dirty="0">
                <a:solidFill>
                  <a:srgbClr val="8F8F8F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App Analyzes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1659493" y="3326368"/>
            <a:ext cx="12325469" cy="2950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System compares your data to healthy ranges</a:t>
            </a:r>
            <a:endParaRPr lang="en-US" sz="14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8602" y="4034076"/>
            <a:ext cx="553164" cy="11430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936075" y="4218384"/>
            <a:ext cx="2305169" cy="2881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dirty="0">
                <a:solidFill>
                  <a:srgbClr val="8F8F8F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See Results</a:t>
            </a:r>
            <a:endParaRPr lang="en-US" sz="1800" dirty="0"/>
          </a:p>
        </p:txBody>
      </p:sp>
      <p:sp>
        <p:nvSpPr>
          <p:cNvPr id="11" name="Text 6"/>
          <p:cNvSpPr/>
          <p:nvPr/>
        </p:nvSpPr>
        <p:spPr>
          <a:xfrm>
            <a:off x="1936075" y="4617125"/>
            <a:ext cx="12048887" cy="2950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Color-coded display with clear status indicators</a:t>
            </a:r>
            <a:endParaRPr lang="en-US" sz="14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75303" y="5324832"/>
            <a:ext cx="553164" cy="114300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2212777" y="5509141"/>
            <a:ext cx="2305169" cy="2881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dirty="0">
                <a:solidFill>
                  <a:srgbClr val="8F8F8F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Get Tips</a:t>
            </a:r>
            <a:endParaRPr lang="en-US" sz="1800" dirty="0"/>
          </a:p>
        </p:txBody>
      </p:sp>
      <p:sp>
        <p:nvSpPr>
          <p:cNvPr id="14" name="Text 8"/>
          <p:cNvSpPr/>
          <p:nvPr/>
        </p:nvSpPr>
        <p:spPr>
          <a:xfrm>
            <a:off x="2212777" y="5907881"/>
            <a:ext cx="11772186" cy="2950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Receive personalized wellness recommendations</a:t>
            </a:r>
            <a:endParaRPr lang="en-US" sz="145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98602" y="6615589"/>
            <a:ext cx="553164" cy="114300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936075" y="6799898"/>
            <a:ext cx="2305169" cy="2881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dirty="0">
                <a:solidFill>
                  <a:srgbClr val="8F8F8F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Hear Guidance</a:t>
            </a:r>
            <a:endParaRPr lang="en-US" sz="1800" dirty="0"/>
          </a:p>
        </p:txBody>
      </p:sp>
      <p:sp>
        <p:nvSpPr>
          <p:cNvPr id="17" name="Text 10"/>
          <p:cNvSpPr/>
          <p:nvPr/>
        </p:nvSpPr>
        <p:spPr>
          <a:xfrm>
            <a:off x="1936075" y="7198638"/>
            <a:ext cx="12048887" cy="2950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Optional voice output in your preferred language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0" y="0"/>
            <a:ext cx="603504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584603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DDDDDD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Sample Health Assessment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356913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DDDDD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Your Measurements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93790" y="4150281"/>
            <a:ext cx="3501509" cy="3705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Temperature: 98.6°F 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✅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793790" y="4600099"/>
            <a:ext cx="3501509" cy="3705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Blood Pressure: 145/95 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❌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793790" y="5049917"/>
            <a:ext cx="3501509" cy="3705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Heart Rate: 85 bpm 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✅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793790" y="5499735"/>
            <a:ext cx="3501509" cy="3705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Oxygen Level: 92% 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⚠️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4856321" y="356913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DDDDD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Personalized Tips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4856321" y="4150281"/>
            <a:ext cx="35015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Drink more water throughout the day</a:t>
            </a:r>
            <a:endParaRPr lang="en-US" sz="1750" dirty="0"/>
          </a:p>
        </p:txBody>
      </p:sp>
      <p:sp>
        <p:nvSpPr>
          <p:cNvPr id="11" name="Text 8"/>
          <p:cNvSpPr/>
          <p:nvPr/>
        </p:nvSpPr>
        <p:spPr>
          <a:xfrm>
            <a:off x="4856321" y="4955381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Take a 10-minute walk to relax</a:t>
            </a:r>
            <a:endParaRPr lang="en-US" sz="1750" dirty="0"/>
          </a:p>
        </p:txBody>
      </p:sp>
      <p:sp>
        <p:nvSpPr>
          <p:cNvPr id="12" name="Text 9"/>
          <p:cNvSpPr/>
          <p:nvPr/>
        </p:nvSpPr>
        <p:spPr>
          <a:xfrm>
            <a:off x="4856321" y="5397579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Reduce sodium in meals</a:t>
            </a:r>
            <a:endParaRPr lang="en-US" sz="1750" dirty="0"/>
          </a:p>
        </p:txBody>
      </p:sp>
      <p:sp>
        <p:nvSpPr>
          <p:cNvPr id="13" name="Text 10"/>
          <p:cNvSpPr/>
          <p:nvPr/>
        </p:nvSpPr>
        <p:spPr>
          <a:xfrm>
            <a:off x="4856321" y="5839778"/>
            <a:ext cx="35015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Check oxygen levels again soon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035040" cy="823543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34921" y="430887"/>
            <a:ext cx="4220408" cy="4897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850"/>
              </a:lnSpc>
              <a:buNone/>
            </a:pPr>
            <a:r>
              <a:rPr lang="en-US" sz="3050" dirty="0">
                <a:solidFill>
                  <a:srgbClr val="DDDDDD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Designed for Everyone</a:t>
            </a:r>
            <a:endParaRPr lang="en-US" sz="3050" dirty="0"/>
          </a:p>
        </p:txBody>
      </p:sp>
      <p:sp>
        <p:nvSpPr>
          <p:cNvPr id="4" name="Shape 1"/>
          <p:cNvSpPr/>
          <p:nvPr/>
        </p:nvSpPr>
        <p:spPr>
          <a:xfrm>
            <a:off x="6034921" y="1155621"/>
            <a:ext cx="8046958" cy="1544717"/>
          </a:xfrm>
          <a:prstGeom prst="roundRect">
            <a:avLst>
              <a:gd name="adj" fmla="val 4261"/>
            </a:avLst>
          </a:prstGeom>
          <a:solidFill>
            <a:srgbClr val="404040"/>
          </a:solidFill>
          <a:ln w="7620">
            <a:solidFill>
              <a:srgbClr val="595959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199227" y="1319927"/>
            <a:ext cx="470059" cy="470059"/>
          </a:xfrm>
          <a:prstGeom prst="roundRect">
            <a:avLst>
              <a:gd name="adj" fmla="val 19450932"/>
            </a:avLst>
          </a:prstGeom>
          <a:solidFill>
            <a:srgbClr val="FFFFFF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28410" y="1449110"/>
            <a:ext cx="211574" cy="21157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199227" y="1946672"/>
            <a:ext cx="1958935" cy="244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Clear Visuals</a:t>
            </a:r>
            <a:endParaRPr lang="en-US" sz="1500" dirty="0"/>
          </a:p>
        </p:txBody>
      </p:sp>
      <p:sp>
        <p:nvSpPr>
          <p:cNvPr id="8" name="Text 4"/>
          <p:cNvSpPr/>
          <p:nvPr/>
        </p:nvSpPr>
        <p:spPr>
          <a:xfrm>
            <a:off x="6199227" y="2285405"/>
            <a:ext cx="7718346" cy="250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Large text, color-coded results, intuitive icons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6034921" y="2857024"/>
            <a:ext cx="8046958" cy="1544717"/>
          </a:xfrm>
          <a:prstGeom prst="roundRect">
            <a:avLst>
              <a:gd name="adj" fmla="val 4261"/>
            </a:avLst>
          </a:prstGeom>
          <a:solidFill>
            <a:srgbClr val="404040"/>
          </a:solidFill>
          <a:ln w="7620">
            <a:solidFill>
              <a:srgbClr val="595959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199227" y="3021330"/>
            <a:ext cx="470059" cy="470059"/>
          </a:xfrm>
          <a:prstGeom prst="roundRect">
            <a:avLst>
              <a:gd name="adj" fmla="val 19450932"/>
            </a:avLst>
          </a:prstGeom>
          <a:solidFill>
            <a:srgbClr val="FFFFFF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28410" y="3150513"/>
            <a:ext cx="211574" cy="21157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199227" y="3648075"/>
            <a:ext cx="1958935" cy="244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Voice Guidance</a:t>
            </a:r>
            <a:endParaRPr lang="en-US" sz="1500" dirty="0"/>
          </a:p>
        </p:txBody>
      </p:sp>
      <p:sp>
        <p:nvSpPr>
          <p:cNvPr id="13" name="Text 8"/>
          <p:cNvSpPr/>
          <p:nvPr/>
        </p:nvSpPr>
        <p:spPr>
          <a:xfrm>
            <a:off x="6199227" y="3986808"/>
            <a:ext cx="7718346" cy="250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Audio prompts navigate you through the app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6034921" y="4558427"/>
            <a:ext cx="8046958" cy="1544717"/>
          </a:xfrm>
          <a:prstGeom prst="roundRect">
            <a:avLst>
              <a:gd name="adj" fmla="val 4261"/>
            </a:avLst>
          </a:prstGeom>
          <a:solidFill>
            <a:srgbClr val="404040"/>
          </a:solidFill>
          <a:ln w="7620">
            <a:solidFill>
              <a:srgbClr val="595959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6199227" y="4722733"/>
            <a:ext cx="470059" cy="470059"/>
          </a:xfrm>
          <a:prstGeom prst="roundRect">
            <a:avLst>
              <a:gd name="adj" fmla="val 19450932"/>
            </a:avLst>
          </a:prstGeom>
          <a:solidFill>
            <a:srgbClr val="FFFFFF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328410" y="4851916"/>
            <a:ext cx="211574" cy="211574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199227" y="5349478"/>
            <a:ext cx="1958935" cy="244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Multi-Language</a:t>
            </a:r>
            <a:endParaRPr lang="en-US" sz="1500" dirty="0"/>
          </a:p>
        </p:txBody>
      </p:sp>
      <p:sp>
        <p:nvSpPr>
          <p:cNvPr id="18" name="Text 12"/>
          <p:cNvSpPr/>
          <p:nvPr/>
        </p:nvSpPr>
        <p:spPr>
          <a:xfrm>
            <a:off x="6199227" y="5688211"/>
            <a:ext cx="7718346" cy="250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English and local language support built in</a:t>
            </a:r>
            <a:endParaRPr lang="en-US" sz="1200" dirty="0"/>
          </a:p>
        </p:txBody>
      </p:sp>
      <p:sp>
        <p:nvSpPr>
          <p:cNvPr id="19" name="Shape 13"/>
          <p:cNvSpPr/>
          <p:nvPr/>
        </p:nvSpPr>
        <p:spPr>
          <a:xfrm>
            <a:off x="6034921" y="6259830"/>
            <a:ext cx="8046958" cy="1544717"/>
          </a:xfrm>
          <a:prstGeom prst="roundRect">
            <a:avLst>
              <a:gd name="adj" fmla="val 4261"/>
            </a:avLst>
          </a:prstGeom>
          <a:solidFill>
            <a:srgbClr val="404040"/>
          </a:solidFill>
          <a:ln w="7620">
            <a:solidFill>
              <a:srgbClr val="595959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6199227" y="6424136"/>
            <a:ext cx="470059" cy="470059"/>
          </a:xfrm>
          <a:prstGeom prst="roundRect">
            <a:avLst>
              <a:gd name="adj" fmla="val 19450932"/>
            </a:avLst>
          </a:prstGeom>
          <a:solidFill>
            <a:srgbClr val="FFFFFF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328410" y="6553319"/>
            <a:ext cx="211574" cy="211574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6199227" y="7050881"/>
            <a:ext cx="1958935" cy="244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Simple Language</a:t>
            </a:r>
            <a:endParaRPr lang="en-US" sz="1500" dirty="0"/>
          </a:p>
        </p:txBody>
      </p:sp>
      <p:sp>
        <p:nvSpPr>
          <p:cNvPr id="23" name="Text 16"/>
          <p:cNvSpPr/>
          <p:nvPr/>
        </p:nvSpPr>
        <p:spPr>
          <a:xfrm>
            <a:off x="6199227" y="7389614"/>
            <a:ext cx="7718346" cy="250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Short sentences, plain words, easy to understand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51109"/>
            <a:ext cx="759356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DDDDDD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Built on Modern Technology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1857256" y="286154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8F8F8F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Mobile App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3351967"/>
            <a:ext cx="389870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Flutter or React Native for smooth performance</a:t>
            </a:r>
            <a:endParaRPr lang="en-US" sz="17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32653" y="2413516"/>
            <a:ext cx="4564975" cy="4564975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15633" y="3396377"/>
            <a:ext cx="339328" cy="33932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937790" y="286154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8F8F8F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Voice Output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9937790" y="3351967"/>
            <a:ext cx="3898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Text-to-Speech API for natural audio guidance</a:t>
            </a:r>
            <a:endParaRPr lang="en-US" sz="17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32653" y="2413516"/>
            <a:ext cx="4564975" cy="4564975"/>
          </a:xfrm>
          <a:prstGeom prst="rect">
            <a:avLst/>
          </a:prstGeom>
        </p:spPr>
      </p:pic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75201" y="3396377"/>
            <a:ext cx="339328" cy="33932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937790" y="531411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8F8F8F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Language Support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9937790" y="5804535"/>
            <a:ext cx="3898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Multiple languages with local customization</a:t>
            </a:r>
            <a:endParaRPr lang="en-US" sz="175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32653" y="2413516"/>
            <a:ext cx="4564975" cy="4564975"/>
          </a:xfrm>
          <a:prstGeom prst="rect">
            <a:avLst/>
          </a:prstGeom>
        </p:spPr>
      </p:pic>
      <p:pic>
        <p:nvPicPr>
          <p:cNvPr id="14" name="Image 5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275201" y="5655945"/>
            <a:ext cx="339328" cy="339328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1857256" y="531411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8F8F8F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Data Security</a:t>
            </a:r>
            <a:endParaRPr lang="en-US" sz="2200" dirty="0"/>
          </a:p>
        </p:txBody>
      </p:sp>
      <p:sp>
        <p:nvSpPr>
          <p:cNvPr id="16" name="Text 8"/>
          <p:cNvSpPr/>
          <p:nvPr/>
        </p:nvSpPr>
        <p:spPr>
          <a:xfrm>
            <a:off x="793790" y="5804535"/>
            <a:ext cx="389870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Local storage or Firebase for safe records</a:t>
            </a:r>
            <a:endParaRPr lang="en-US" sz="1750" dirty="0"/>
          </a:p>
        </p:txBody>
      </p:sp>
      <p:pic>
        <p:nvPicPr>
          <p:cNvPr id="17" name="Image 6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32653" y="2413516"/>
            <a:ext cx="4564975" cy="4564975"/>
          </a:xfrm>
          <a:prstGeom prst="rect">
            <a:avLst/>
          </a:prstGeom>
        </p:spPr>
      </p:pic>
      <p:pic>
        <p:nvPicPr>
          <p:cNvPr id="18" name="Image 7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015633" y="5655945"/>
            <a:ext cx="339328" cy="33932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0" y="0"/>
            <a:ext cx="603504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547699"/>
            <a:ext cx="704302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DDDDDD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Your Health, Made Simple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3596640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Medi-Track puts daily health monitoring in your hands—practical, friendly, and designed for you.</a:t>
            </a:r>
            <a:endParaRPr lang="en-US" sz="1750" dirty="0"/>
          </a:p>
        </p:txBody>
      </p:sp>
      <p:sp>
        <p:nvSpPr>
          <p:cNvPr id="5" name="Shape 2"/>
          <p:cNvSpPr/>
          <p:nvPr/>
        </p:nvSpPr>
        <p:spPr>
          <a:xfrm>
            <a:off x="793790" y="4577596"/>
            <a:ext cx="7556421" cy="1104186"/>
          </a:xfrm>
          <a:prstGeom prst="roundRect">
            <a:avLst>
              <a:gd name="adj" fmla="val 8628"/>
            </a:avLst>
          </a:prstGeom>
          <a:solidFill>
            <a:srgbClr val="181616">
              <a:alpha val="95000"/>
            </a:srgbClr>
          </a:solidFill>
          <a:ln w="30480">
            <a:solidFill>
              <a:srgbClr val="595959"/>
            </a:solidFill>
            <a:prstDash val="solid"/>
          </a:ln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181" y="4471988"/>
            <a:ext cx="272177" cy="272177"/>
          </a:xfrm>
          <a:prstGeom prst="rect">
            <a:avLst/>
          </a:prstGeom>
        </p:spPr>
      </p:pic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642" y="5515213"/>
            <a:ext cx="272177" cy="272177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164431" y="4948238"/>
            <a:ext cx="681513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Check your health today the friendly way.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2025-10-18T07:25:04Z</dcterms:created>
  <dcterms:modified xsi:type="dcterms:W3CDTF">2025-10-18T07:25:04Z</dcterms:modified>
</cp:coreProperties>
</file>